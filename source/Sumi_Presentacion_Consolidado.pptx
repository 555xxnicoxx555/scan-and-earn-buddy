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Ganancia mensual (USD)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426.27</c:v>
                </c:pt>
                <c:pt idx="1">
                  <c:v>1365.5</c:v>
                </c:pt>
                <c:pt idx="2">
                  <c:v>1763.92</c:v>
                </c:pt>
                <c:pt idx="3">
                  <c:v>2162.33</c:v>
                </c:pt>
                <c:pt idx="4">
                  <c:v>2560.74</c:v>
                </c:pt>
                <c:pt idx="5">
                  <c:v>2959.15</c:v>
                </c:pt>
                <c:pt idx="6">
                  <c:v>3357.56</c:v>
                </c:pt>
                <c:pt idx="7">
                  <c:v>3755.97</c:v>
                </c:pt>
                <c:pt idx="8">
                  <c:v>4154.38</c:v>
                </c:pt>
                <c:pt idx="9">
                  <c:v>4552.8</c:v>
                </c:pt>
                <c:pt idx="10">
                  <c:v>4951.21</c:v>
                </c:pt>
                <c:pt idx="11">
                  <c:v>5349.62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Ganancia acumulada (USD)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426.27</c:v>
                </c:pt>
                <c:pt idx="1">
                  <c:v>1791.78</c:v>
                </c:pt>
                <c:pt idx="2">
                  <c:v>3555.69</c:v>
                </c:pt>
                <c:pt idx="3">
                  <c:v>5718.02</c:v>
                </c:pt>
                <c:pt idx="4">
                  <c:v>8278.76</c:v>
                </c:pt>
                <c:pt idx="5">
                  <c:v>11237.91</c:v>
                </c:pt>
                <c:pt idx="6">
                  <c:v>14595.47</c:v>
                </c:pt>
                <c:pt idx="7">
                  <c:v>18351.45</c:v>
                </c:pt>
                <c:pt idx="8">
                  <c:v>22505.83</c:v>
                </c:pt>
                <c:pt idx="9">
                  <c:v>27058.63</c:v>
                </c:pt>
                <c:pt idx="10">
                  <c:v>32009.83</c:v>
                </c:pt>
                <c:pt idx="11">
                  <c:v>37359.45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Gridlines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21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/>
              <a:t>Sumi</a:t>
            </a:r>
          </a:p>
        </p:txBody>
      </p:sp>
      <p:pic>
        <p:nvPicPr>
          <p:cNvPr id="3" name="Picture 2" descr="image.png_20260605023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rPr/>
              <a:t>Puntos • Beneficios • Clientes felices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/>
              <a:t>Los locales gastronómicos dependen de clientes ocasionales y no cuentan con datos para medir la frecuencia de compra o incentivar el retorno.</a:t>
            </a:r>
          </a:p>
          <a:p>
            <a:r>
              <a:rPr/>
              <a:t>Las promociones son generales y no logran fidelizar a quienes consumen con regularidad.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Solución: ¿Qué es Sumi?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/>
              <a:t>Sumi digitaliza la experiencia en el local: ofrece una página web con menú digital, dominio y hosting, registro de clientes, generación de códigos QR personales y un sistema de puntos por consumo.</a:t>
            </a:r>
          </a:p>
          <a:p>
            <a:r>
              <a:rPr/>
              <a:t>Para los locales, brinda un panel administrativo para registrar consumos, gestionar puntos y campañas; para los clientes, convierte cada compra en una recompensa.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Cliente objetivo y flujo del cliente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/>
              <a:t>• Negocios: cafeterías, bares y restaurantes que buscan fidelizar clientes.</a:t>
            </a:r>
          </a:p>
          <a:p>
            <a:r>
              <a:rPr/>
              <a:t>• Usuarios finales: clientes que valoran la comodidad y los beneficios.</a:t>
            </a:r>
          </a:p>
          <a:p/>
          <a:p>
            <a:r>
              <a:rPr/>
              <a:t>Flujo del cliente:</a:t>
            </a:r>
          </a:p>
          <a:p>
            <a:r>
              <a:rPr/>
              <a:t>1. Escanea el QR en la mesa.</a:t>
            </a:r>
          </a:p>
          <a:p>
            <a:r>
              <a:rPr/>
              <a:t>2. Consulta el menú digital y se registra.</a:t>
            </a:r>
          </a:p>
          <a:p>
            <a:r>
              <a:rPr/>
              <a:t>3. Genera su QR personal.</a:t>
            </a:r>
          </a:p>
          <a:p>
            <a:r>
              <a:rPr/>
              <a:t>4. Al pagar, muestra su QR y acumula puntos.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Flujo del local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/>
              <a:t>1. Coloca los QR en cada mesa.</a:t>
            </a:r>
          </a:p>
          <a:p>
            <a:r>
              <a:rPr/>
              <a:t>2. Inicia sesión en el panel de Sumi.</a:t>
            </a:r>
          </a:p>
          <a:p>
            <a:r>
              <a:rPr/>
              <a:t>3. Escanea el QR personal del cliente y carga el consumo.</a:t>
            </a:r>
          </a:p>
          <a:p>
            <a:r>
              <a:rPr/>
              <a:t>4. El sistema acredita puntos y actualiza las estadísticas.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Servicios incluidos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/>
              <a:t>• Página web con dominio y hosting.</a:t>
            </a:r>
          </a:p>
          <a:p>
            <a:r>
              <a:rPr/>
              <a:t>• Menú digital accesible vía QR.</a:t>
            </a:r>
          </a:p>
          <a:p>
            <a:r>
              <a:rPr/>
              <a:t>• Sistema de registro y acumulación de puntos.</a:t>
            </a:r>
          </a:p>
          <a:p>
            <a:r>
              <a:rPr/>
              <a:t>• Códigos QR físicos (10 por local).</a:t>
            </a:r>
          </a:p>
          <a:p>
            <a:r>
              <a:rPr/>
              <a:t>• Panel administrativo y soporte técnico.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Modelo de ingresos y costos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/>
              <a:t>Ingresos:</a:t>
            </a:r>
          </a:p>
          <a:p>
            <a:r>
              <a:rPr/>
              <a:t>- Implementación única por local: USD 800 (ARS 1.149.600).</a:t>
            </a:r>
          </a:p>
          <a:p>
            <a:r>
              <a:rPr/>
              <a:t>- Mantenimiento mensual por local: USD 100 (ARS 143.700).</a:t>
            </a:r>
          </a:p>
          <a:p/>
          <a:p>
            <a:r>
              <a:rPr/>
              <a:t>Costos variables por cliente:</a:t>
            </a:r>
          </a:p>
          <a:p>
            <a:r>
              <a:rPr/>
              <a:t>- Acrílicos con QR: USD 139.18.</a:t>
            </a:r>
          </a:p>
          <a:p>
            <a:r>
              <a:rPr/>
              <a:t>- Dominio anual: USD 4.00.</a:t>
            </a:r>
          </a:p>
          <a:p>
            <a:r>
              <a:rPr/>
              <a:t>- Hosting mensual: USD 0.06.</a:t>
            </a:r>
          </a:p>
          <a:p>
            <a:r>
              <a:rPr/>
              <a:t>- Comisión del vendedor: USD 120.00.</a:t>
            </a:r>
          </a:p>
          <a:p/>
          <a:p>
            <a:r>
              <a:rPr/>
              <a:t>Costos fijos mensuales:</a:t>
            </a:r>
          </a:p>
          <a:p>
            <a:r>
              <a:rPr/>
              <a:t>- Desarrollador: USD 800.</a:t>
            </a:r>
          </a:p>
          <a:p>
            <a:r>
              <a:rPr/>
              <a:t>- Diseñador: USD 500.</a:t>
            </a:r>
          </a:p>
          <a:p>
            <a:r>
              <a:rPr/>
              <a:t>- Marketing y administración: USD 150.</a:t>
            </a:r>
          </a:p>
          <a:p>
            <a:r>
              <a:rPr/>
              <a:t>- Herramientas: USD 45.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Proyección financiera (12 meses)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Marketing y ventas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/>
              <a:t>Estrategia B2B consultiva: captar leads mediante anuncios online y prospección física.</a:t>
            </a:r>
          </a:p>
          <a:p>
            <a:r>
              <a:rPr/>
              <a:t>Primera llamada de descubrimiento para entender necesidades y objeciones.</a:t>
            </a:r>
          </a:p>
          <a:p>
            <a:r>
              <a:rPr/>
              <a:t>Segunda llamada para presentar la propuesta y la demo.</a:t>
            </a:r>
          </a:p>
          <a:p>
            <a:r>
              <a:rPr/>
              <a:t>Cierre en dos llamadas con comisión del vendedor del 15% sobre la implementación.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Ventajas competitivas y escalabilidad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/>
              <a:t>• Solución integral para locales gastronómicos argentinos: digitalización, fidelización y presencia online.</a:t>
            </a:r>
          </a:p>
          <a:p>
            <a:r>
              <a:rPr/>
              <a:t>• Modelo de negocios escalable: bajo costo variable y posibilidad de crecer con más locales sin grandes inversiones.</a:t>
            </a:r>
          </a:p>
          <a:p>
            <a:r>
              <a:rPr/>
              <a:t>• Diferenciación frente a competidores genéricos de fidelización.</a:t>
            </a:r>
          </a:p>
          <a:p>
            <a:r>
              <a:rPr/>
              <a:t>• Expansión a bares, food trucks y cadenas de restaurantes.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/>
              <a:t>Sumi convierte cada consumo en una oportunidad de recompra.</a:t>
            </a:r>
          </a:p>
          <a:p>
            <a:r>
              <a:rPr/>
              <a:t>Con una inversión inicial y un mantenimiento mensual accesibles, el sistema ofrece beneficios tanto para los clientes como para los negocios, generando datos valiosos y aumentando la rentabilidad.</a:t>
            </a:r>
          </a:p>
          <a:p>
            <a:r>
              <a:rPr/>
              <a:t>El potencial de expansión y la baja estructura de costos hacen que Sumi sea un proyecto sostenible y atractivo para invertir.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